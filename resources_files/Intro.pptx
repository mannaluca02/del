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3" r:id="rId4"/>
    <p:sldId id="262" r:id="rId5"/>
    <p:sldId id="266" r:id="rId6"/>
    <p:sldId id="257" r:id="rId7"/>
    <p:sldId id="258" r:id="rId8"/>
    <p:sldId id="260" r:id="rId9"/>
    <p:sldId id="265" r:id="rId10"/>
    <p:sldId id="264" r:id="rId11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72"/>
    <p:restoredTop sz="95915"/>
  </p:normalViewPr>
  <p:slideViewPr>
    <p:cSldViewPr snapToGrid="0" snapToObjects="1">
      <p:cViewPr varScale="1">
        <p:scale>
          <a:sx n="108" d="100"/>
          <a:sy n="108" d="100"/>
        </p:scale>
        <p:origin x="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B8CC1-555F-BC4E-9B7E-BAE7A0B8F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95990F-788D-1441-9F9B-1453121C28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CCD4F-70DD-8647-AC92-6216300A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7365-F7B4-144C-BB97-4D9704370BFE}" type="datetimeFigureOut">
              <a:rPr lang="de-CH" smtClean="0"/>
              <a:t>21.02.24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3ABF0-E2A1-6349-B6AF-CBDC6EE2B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9B52C-0031-B443-B2CE-9B73B2095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AFC6-5C43-9041-BBAA-FE75B9A9438A}" type="slidenum">
              <a:rPr lang="de-CH" smtClean="0"/>
              <a:t>‹#›</a:t>
            </a:fld>
            <a:endParaRPr lang="de-CH"/>
          </a:p>
        </p:txBody>
      </p:sp>
      <p:pic>
        <p:nvPicPr>
          <p:cNvPr id="7" name="Picture 17" descr="FHNW_HT">
            <a:extLst>
              <a:ext uri="{FF2B5EF4-FFF2-40B4-BE49-F238E27FC236}">
                <a16:creationId xmlns:a16="http://schemas.microsoft.com/office/drawing/2014/main" id="{0D73DECE-0505-C842-BB66-6FC85FB6DA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250825"/>
            <a:ext cx="347503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7560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C74E7-AE63-A747-81EF-B0F35F109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026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5E4C-45BE-E247-9B4D-01643FAE9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33D5D31-B834-6642-ACBE-64E32F71444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38200" y="6264812"/>
            <a:ext cx="10515600" cy="1260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8" name="Picture 17" descr="FHNW_HT">
            <a:extLst>
              <a:ext uri="{FF2B5EF4-FFF2-40B4-BE49-F238E27FC236}">
                <a16:creationId xmlns:a16="http://schemas.microsoft.com/office/drawing/2014/main" id="{746295AE-B9DF-8646-A4AA-CD0AC3540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250825"/>
            <a:ext cx="347503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21CB29E-C57E-B548-AB76-5C034181A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6578" y="6365265"/>
            <a:ext cx="2626406" cy="33808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de-CH" dirty="0"/>
              <a:t>Studiengang DS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291B4EA6-54AB-7641-8CAC-06CB155845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50064" y="6368144"/>
            <a:ext cx="2626406" cy="33808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de-CH" dirty="0" err="1"/>
              <a:t>Deep</a:t>
            </a:r>
            <a:r>
              <a:rPr lang="de-CH" dirty="0"/>
              <a:t> Learning, Intro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7059B9BF-E66B-884A-BE8C-8211F1270D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27394" y="6365265"/>
            <a:ext cx="2626406" cy="338086"/>
          </a:xfrm>
        </p:spPr>
        <p:txBody>
          <a:bodyPr>
            <a:norm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de-CH" dirty="0"/>
              <a:t>Martin Melchior</a:t>
            </a:r>
          </a:p>
        </p:txBody>
      </p:sp>
    </p:spTree>
    <p:extLst>
      <p:ext uri="{BB962C8B-B14F-4D97-AF65-F5344CB8AC3E}">
        <p14:creationId xmlns:p14="http://schemas.microsoft.com/office/powerpoint/2010/main" val="1576451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657EC-DD00-A644-94E7-98FC2F2EA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081B2-8C1C-6B44-89C4-E6D39ED0C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C943E-5B32-5E43-988D-7366D5954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7365-F7B4-144C-BB97-4D9704370BFE}" type="datetimeFigureOut">
              <a:rPr lang="de-CH" smtClean="0"/>
              <a:t>21.02.24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D18F0-3550-0449-8E03-B4CFAEB80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AD4ED-198E-CD4E-82F8-C77FE33E8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AFC6-5C43-9041-BBAA-FE75B9A943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23717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B3527-A112-F245-AED7-31D32DE2D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3F5AF-D7FC-024C-B86F-C19B690D5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0DAFE-66B8-2442-9549-5B9B6C317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CF81D-578D-DD46-8CD2-4E96A9696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7365-F7B4-144C-BB97-4D9704370BFE}" type="datetimeFigureOut">
              <a:rPr lang="de-CH" smtClean="0"/>
              <a:t>21.02.24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C202E2-1D7B-C34C-8383-EA56423E7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5BA13-838A-1444-8C66-832484485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AFC6-5C43-9041-BBAA-FE75B9A943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56042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05A10-387A-0646-897A-9BE0CD203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32179-86F3-694E-A3DF-95EFB7A8D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74D52-6ED3-994A-A575-A0E6DD283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37B28C-83C4-A04B-B2CD-89739814A7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FF9911-1B95-5941-BFE4-0B8C25582B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9E5257-A387-B144-834E-7CB570C0E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7365-F7B4-144C-BB97-4D9704370BFE}" type="datetimeFigureOut">
              <a:rPr lang="de-CH" smtClean="0"/>
              <a:t>21.02.24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7B0832-75AE-9C4F-9782-50212A4B5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6BDACA-B896-D845-ABE1-A6F698C8B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AFC6-5C43-9041-BBAA-FE75B9A943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025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97C85-7A89-FE46-8266-CB1275BEF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F71C86-F3E6-474C-8817-3B4F1FF2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7365-F7B4-144C-BB97-4D9704370BFE}" type="datetimeFigureOut">
              <a:rPr lang="de-CH" smtClean="0"/>
              <a:t>21.02.24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B9C1B-9FBB-424F-9ADE-9CE529512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8989A0-F092-1E45-BFB2-0227FCE29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AFC6-5C43-9041-BBAA-FE75B9A943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626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60F08A-FA52-DE46-B9A8-98EE7A715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7365-F7B4-144C-BB97-4D9704370BFE}" type="datetimeFigureOut">
              <a:rPr lang="de-CH" smtClean="0"/>
              <a:t>21.02.24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373F90-59C9-824E-9737-EA4DBD7C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4713C-EDE0-AF48-B52D-9B08C4139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AFC6-5C43-9041-BBAA-FE75B9A943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1670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2B4D3-CC0B-F144-A706-C75B80B37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9EE2E-1727-E64F-9D1D-0A29C38A2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1E6F0D-C07E-084A-8481-21E6DE28C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26B4F-A5F1-8143-B224-CA953CAE5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7365-F7B4-144C-BB97-4D9704370BFE}" type="datetimeFigureOut">
              <a:rPr lang="de-CH" smtClean="0"/>
              <a:t>21.02.24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3CA19-2D56-8B4C-AA41-0B294032D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D05AE-A50A-B34B-B3DA-C2F598046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AFC6-5C43-9041-BBAA-FE75B9A943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33945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7F9E8-1C5C-044F-89DA-C6B2FA5BB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4DD47A-49F8-7A46-8B42-D17977485A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4F5C53-A532-B94C-873A-8C0644BAE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11833-9470-894A-90AF-EDB3123F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7365-F7B4-144C-BB97-4D9704370BFE}" type="datetimeFigureOut">
              <a:rPr lang="de-CH" smtClean="0"/>
              <a:t>21.02.24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8D0B6-1115-CA43-9CF1-139176F64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9E087-72BB-1946-9195-544FBD66D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AFC6-5C43-9041-BBAA-FE75B9A943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61212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C7B48-8DE6-184B-A1B1-71967AD98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4AA111-2688-7B49-B804-DC20F279F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5E4EF-7D1C-B14E-95DF-4A58C9015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7365-F7B4-144C-BB97-4D9704370BFE}" type="datetimeFigureOut">
              <a:rPr lang="de-CH" smtClean="0"/>
              <a:t>21.02.24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7C5B9-A35A-4C4B-832A-16AD2F23F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A43BD-6B22-4045-BB12-E509717F9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AFC6-5C43-9041-BBAA-FE75B9A943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29735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765C67-B125-E14A-93CD-C199E3FE1A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58105E-3AB8-B646-B76B-9F49EF336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085CF-B0FF-994F-AA46-982CF0F07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7365-F7B4-144C-BB97-4D9704370BFE}" type="datetimeFigureOut">
              <a:rPr lang="de-CH" smtClean="0"/>
              <a:t>21.02.24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9AECF-C9C3-1E47-B716-FF73B10BD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14508-38B9-F540-A2F8-A5B6D6375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AFC6-5C43-9041-BBAA-FE75B9A943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51036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4E0AB-CBAA-8948-96FD-AB6B71A1B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CFED16-BC1A-184E-9321-43E615A9E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7365-F7B4-144C-BB97-4D9704370BFE}" type="datetimeFigureOut">
              <a:rPr lang="de-CH" smtClean="0"/>
              <a:t>21.02.24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12028-C079-9D40-9AC8-C155D8232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107C3A-1764-3D44-8845-97E61190A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3AFC6-5C43-9041-BBAA-FE75B9A943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6121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BF5C70-424C-B143-BF81-F7BFCD622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406FA-6126-994B-B858-20A8D06FB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CAD46-C18D-8141-85CD-E250EC47BF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77365-F7B4-144C-BB97-4D9704370BFE}" type="datetimeFigureOut">
              <a:rPr lang="de-CH" smtClean="0"/>
              <a:t>21.02.24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B9F63-BD21-7645-86EB-4ED899632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E574A-E98C-9541-B705-751127A4C7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3AFC6-5C43-9041-BBAA-FE75B9A9438A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56718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s://arxiv.org/pdf/2101.03961.pdf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penai.com/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replika.ai/" TargetMode="External"/><Relationship Id="rId3" Type="http://schemas.openxmlformats.org/officeDocument/2006/relationships/hyperlink" Target="https://www.midjourney.com/" TargetMode="External"/><Relationship Id="rId7" Type="http://schemas.openxmlformats.org/officeDocument/2006/relationships/hyperlink" Target="https://huggingface.co/" TargetMode="External"/><Relationship Id="rId2" Type="http://schemas.openxmlformats.org/officeDocument/2006/relationships/hyperlink" Target="https://stablediffusionweb.com/#demo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deeplearninggallery.com/" TargetMode="External"/><Relationship Id="rId5" Type="http://schemas.openxmlformats.org/officeDocument/2006/relationships/hyperlink" Target="https://openai.com/blog/clip/" TargetMode="External"/><Relationship Id="rId4" Type="http://schemas.openxmlformats.org/officeDocument/2006/relationships/hyperlink" Target="https://chat.openai.com/chat" TargetMode="External"/><Relationship Id="rId9" Type="http://schemas.openxmlformats.org/officeDocument/2006/relationships/hyperlink" Target="https://beta.character.ai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fhnw.ch/deep_learning/sgds/resourc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BD02-DC2C-DF42-BD36-68B338EC95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 err="1"/>
              <a:t>Deep</a:t>
            </a:r>
            <a:r>
              <a:rPr lang="de-CH" dirty="0"/>
              <a:t> 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BDF896-AAC1-E446-96E5-53FB6DACA0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Studiengang Data Science</a:t>
            </a:r>
          </a:p>
          <a:p>
            <a:r>
              <a:rPr lang="de-CH" dirty="0"/>
              <a:t>FS 2024</a:t>
            </a:r>
          </a:p>
          <a:p>
            <a:r>
              <a:rPr lang="de-CH" dirty="0"/>
              <a:t>Martin Melchior</a:t>
            </a:r>
          </a:p>
        </p:txBody>
      </p:sp>
    </p:spTree>
    <p:extLst>
      <p:ext uri="{BB962C8B-B14F-4D97-AF65-F5344CB8AC3E}">
        <p14:creationId xmlns:p14="http://schemas.microsoft.com/office/powerpoint/2010/main" val="3120090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86E8B-B491-F645-8AB3-96D50C8F4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686" y="582840"/>
            <a:ext cx="10515600" cy="1325563"/>
          </a:xfrm>
        </p:spPr>
        <p:txBody>
          <a:bodyPr/>
          <a:lstStyle/>
          <a:p>
            <a:r>
              <a:rPr lang="de-CH" dirty="0" err="1"/>
              <a:t>What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Deep</a:t>
            </a:r>
            <a:r>
              <a:rPr lang="de-CH" dirty="0"/>
              <a:t> Learning?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D109E1-6FC5-E84F-A607-F4A7B363CD4A}"/>
              </a:ext>
            </a:extLst>
          </p:cNvPr>
          <p:cNvSpPr/>
          <p:nvPr/>
        </p:nvSpPr>
        <p:spPr>
          <a:xfrm>
            <a:off x="838200" y="1690688"/>
            <a:ext cx="6180346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CH" sz="2400" dirty="0" err="1"/>
              <a:t>Machine</a:t>
            </a:r>
            <a:r>
              <a:rPr lang="de-CH" sz="2400" dirty="0"/>
              <a:t> Learning </a:t>
            </a:r>
          </a:p>
          <a:p>
            <a:r>
              <a:rPr lang="de-CH" sz="2400" dirty="0"/>
              <a:t>-&gt; </a:t>
            </a:r>
            <a:r>
              <a:rPr lang="de-CH" sz="2400" dirty="0" err="1"/>
              <a:t>Artificial</a:t>
            </a:r>
            <a:r>
              <a:rPr lang="de-CH" sz="2400" dirty="0"/>
              <a:t> </a:t>
            </a:r>
            <a:r>
              <a:rPr lang="de-CH" sz="2400" dirty="0" err="1"/>
              <a:t>Neural</a:t>
            </a:r>
            <a:r>
              <a:rPr lang="de-CH" sz="2400" dirty="0"/>
              <a:t> Nets (ANN)</a:t>
            </a:r>
          </a:p>
          <a:p>
            <a:r>
              <a:rPr lang="de-CH" sz="2400" dirty="0"/>
              <a:t>	-&gt; </a:t>
            </a:r>
            <a:r>
              <a:rPr lang="de-CH" sz="2400" dirty="0" err="1"/>
              <a:t>Shallow</a:t>
            </a:r>
            <a:r>
              <a:rPr lang="de-CH" sz="2400" dirty="0"/>
              <a:t> </a:t>
            </a:r>
            <a:r>
              <a:rPr lang="de-CH" sz="2400" dirty="0" err="1"/>
              <a:t>Neural</a:t>
            </a:r>
            <a:r>
              <a:rPr lang="de-CH" sz="2400" dirty="0"/>
              <a:t> Nets</a:t>
            </a:r>
          </a:p>
          <a:p>
            <a:r>
              <a:rPr lang="de-CH" sz="2400" dirty="0"/>
              <a:t>	-&gt; </a:t>
            </a:r>
            <a:r>
              <a:rPr lang="de-CH" sz="2400" dirty="0" err="1"/>
              <a:t>Deep</a:t>
            </a:r>
            <a:r>
              <a:rPr lang="de-CH" sz="2400" dirty="0"/>
              <a:t> </a:t>
            </a:r>
            <a:r>
              <a:rPr lang="de-CH" sz="2400" dirty="0" err="1"/>
              <a:t>Neural</a:t>
            </a:r>
            <a:r>
              <a:rPr lang="de-CH" sz="2400" dirty="0"/>
              <a:t> Nets (DNN): </a:t>
            </a:r>
            <a:r>
              <a:rPr lang="de-CH" sz="2400" dirty="0" err="1"/>
              <a:t>Many</a:t>
            </a:r>
            <a:r>
              <a:rPr lang="de-CH" sz="2400" dirty="0"/>
              <a:t> </a:t>
            </a:r>
            <a:r>
              <a:rPr lang="de-CH" sz="2400" dirty="0" err="1"/>
              <a:t>Layers</a:t>
            </a:r>
            <a:endParaRPr lang="de-CH" sz="2400" dirty="0"/>
          </a:p>
          <a:p>
            <a:endParaRPr lang="de-CH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9324CA-2ECC-4244-A127-9C98C08AD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63034"/>
            <a:ext cx="5036457" cy="264064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ECD8762-EBE9-1E44-B7B3-68984FEA7C74}"/>
              </a:ext>
            </a:extLst>
          </p:cNvPr>
          <p:cNvSpPr/>
          <p:nvPr/>
        </p:nvSpPr>
        <p:spPr>
          <a:xfrm>
            <a:off x="7018546" y="3629680"/>
            <a:ext cx="46799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err="1"/>
              <a:t>Besonders</a:t>
            </a:r>
            <a:r>
              <a:rPr lang="en-GB" sz="2400" dirty="0"/>
              <a:t> </a:t>
            </a:r>
            <a:r>
              <a:rPr lang="en-GB" sz="2400" dirty="0" err="1"/>
              <a:t>erfolgreich</a:t>
            </a:r>
            <a:r>
              <a:rPr lang="en-GB" sz="2400" dirty="0"/>
              <a:t> </a:t>
            </a:r>
            <a:r>
              <a:rPr lang="en-GB" sz="2400" dirty="0" err="1"/>
              <a:t>für</a:t>
            </a:r>
            <a:r>
              <a:rPr lang="en-GB" sz="2400" dirty="0"/>
              <a:t> Tasks, die </a:t>
            </a:r>
            <a:r>
              <a:rPr lang="en-GB" sz="2400" dirty="0" err="1"/>
              <a:t>traditionell</a:t>
            </a:r>
            <a:r>
              <a:rPr lang="en-GB" sz="2400" dirty="0"/>
              <a:t> </a:t>
            </a:r>
            <a:r>
              <a:rPr lang="en-GB" sz="2400" dirty="0" err="1"/>
              <a:t>einfach</a:t>
            </a:r>
            <a:r>
              <a:rPr lang="en-GB" sz="2400" dirty="0"/>
              <a:t> </a:t>
            </a:r>
            <a:r>
              <a:rPr lang="en-GB" sz="2400" dirty="0" err="1"/>
              <a:t>für</a:t>
            </a:r>
            <a:r>
              <a:rPr lang="en-GB" sz="2400" dirty="0"/>
              <a:t> Menschen </a:t>
            </a:r>
            <a:r>
              <a:rPr lang="en-GB" sz="2400" dirty="0" err="1"/>
              <a:t>aber</a:t>
            </a:r>
            <a:r>
              <a:rPr lang="en-GB" sz="2400" dirty="0"/>
              <a:t> </a:t>
            </a:r>
            <a:r>
              <a:rPr lang="en-GB" sz="2400" dirty="0" err="1"/>
              <a:t>schwierig</a:t>
            </a:r>
            <a:r>
              <a:rPr lang="en-GB" sz="2400" dirty="0"/>
              <a:t> </a:t>
            </a:r>
            <a:r>
              <a:rPr lang="en-GB" sz="2400" dirty="0" err="1"/>
              <a:t>für</a:t>
            </a:r>
            <a:r>
              <a:rPr lang="en-GB" sz="2400" dirty="0"/>
              <a:t> </a:t>
            </a:r>
            <a:r>
              <a:rPr lang="en-GB" sz="2400" dirty="0" err="1"/>
              <a:t>Maschinen</a:t>
            </a:r>
            <a:r>
              <a:rPr lang="en-GB" sz="2400" dirty="0"/>
              <a:t> ware: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Vision: </a:t>
            </a:r>
            <a:r>
              <a:rPr lang="en-GB" sz="2400" dirty="0" err="1"/>
              <a:t>Erkennen</a:t>
            </a:r>
            <a:r>
              <a:rPr lang="en-GB" sz="2400" dirty="0"/>
              <a:t>, </a:t>
            </a:r>
            <a:r>
              <a:rPr lang="en-GB" sz="2400" dirty="0" err="1"/>
              <a:t>Detektieren</a:t>
            </a:r>
            <a:r>
              <a:rPr lang="en-GB" sz="2400" dirty="0"/>
              <a:t>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err="1"/>
              <a:t>Sprache</a:t>
            </a:r>
            <a:r>
              <a:rPr lang="en-GB" sz="2400" dirty="0"/>
              <a:t>: Verstehen, </a:t>
            </a:r>
            <a:r>
              <a:rPr lang="en-GB" sz="2400" dirty="0" err="1"/>
              <a:t>Übersetzen</a:t>
            </a:r>
            <a:r>
              <a:rPr lang="en-GB" sz="2400" dirty="0"/>
              <a:t>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 err="1"/>
              <a:t>Annotieren</a:t>
            </a:r>
            <a:r>
              <a:rPr lang="en-GB" sz="2400" dirty="0"/>
              <a:t>, Captioning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66E0A05C-DD25-4645-8E07-BD10967A98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6578" y="6365265"/>
            <a:ext cx="2626406" cy="338086"/>
          </a:xfrm>
        </p:spPr>
        <p:txBody>
          <a:bodyPr>
            <a:normAutofit lnSpcReduction="10000"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de-CH" dirty="0"/>
              <a:t>Studiengang DS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A5CC174B-849E-8E47-AA14-6D6E06F93F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50064" y="6368144"/>
            <a:ext cx="2626406" cy="338086"/>
          </a:xfrm>
        </p:spPr>
        <p:txBody>
          <a:bodyPr>
            <a:normAutofit lnSpcReduction="10000"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de-CH" dirty="0" err="1"/>
              <a:t>Deep</a:t>
            </a:r>
            <a:r>
              <a:rPr lang="de-CH" dirty="0"/>
              <a:t> Learning, Intro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D2A2ADBC-DF5D-AD4C-B159-930C21231E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27394" y="6365265"/>
            <a:ext cx="2626406" cy="338086"/>
          </a:xfrm>
        </p:spPr>
        <p:txBody>
          <a:bodyPr>
            <a:normAutofit lnSpcReduction="10000"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de-CH" dirty="0"/>
              <a:t>Martin Melchior</a:t>
            </a:r>
          </a:p>
        </p:txBody>
      </p:sp>
    </p:spTree>
    <p:extLst>
      <p:ext uri="{BB962C8B-B14F-4D97-AF65-F5344CB8AC3E}">
        <p14:creationId xmlns:p14="http://schemas.microsoft.com/office/powerpoint/2010/main" val="2705157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6BF3655A-FD62-214C-8DBF-BA06260882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6578" y="6365265"/>
            <a:ext cx="2626406" cy="338086"/>
          </a:xfrm>
        </p:spPr>
        <p:txBody>
          <a:bodyPr>
            <a:normAutofit lnSpcReduction="10000"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de-CH" dirty="0"/>
              <a:t>Studiengang DS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BF9363C4-07A1-7D4D-A6FB-6EF5DD3FD8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50064" y="6368144"/>
            <a:ext cx="2626406" cy="338086"/>
          </a:xfrm>
        </p:spPr>
        <p:txBody>
          <a:bodyPr>
            <a:normAutofit lnSpcReduction="10000"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de-CH" dirty="0" err="1"/>
              <a:t>Deep</a:t>
            </a:r>
            <a:r>
              <a:rPr lang="de-CH" dirty="0"/>
              <a:t> Learning, Intro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445CE04E-8193-564A-8DD2-B686B062343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27394" y="6365265"/>
            <a:ext cx="2626406" cy="338086"/>
          </a:xfrm>
        </p:spPr>
        <p:txBody>
          <a:bodyPr>
            <a:normAutofit lnSpcReduction="10000"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de-CH" dirty="0"/>
              <a:t>Martin Melchior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673195-7489-05ED-03E8-695D2BDFF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708" y="455288"/>
            <a:ext cx="9257374" cy="5769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067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86E8B-B491-F645-8AB3-96D50C8F4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Why</a:t>
            </a:r>
            <a:r>
              <a:rPr lang="de-CH" dirty="0"/>
              <a:t> </a:t>
            </a:r>
            <a:r>
              <a:rPr lang="de-CH" dirty="0" err="1"/>
              <a:t>Deep</a:t>
            </a:r>
            <a:r>
              <a:rPr lang="de-CH" dirty="0"/>
              <a:t> Learning </a:t>
            </a:r>
            <a:r>
              <a:rPr lang="de-CH" dirty="0" err="1"/>
              <a:t>Now</a:t>
            </a:r>
            <a:r>
              <a:rPr lang="de-CH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536141-7B0F-B04F-839A-FAFB343BD666}"/>
              </a:ext>
            </a:extLst>
          </p:cNvPr>
          <p:cNvSpPr/>
          <p:nvPr/>
        </p:nvSpPr>
        <p:spPr>
          <a:xfrm>
            <a:off x="369280" y="4825950"/>
            <a:ext cx="287328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/>
              <a:t>1990’s</a:t>
            </a:r>
          </a:p>
          <a:p>
            <a:r>
              <a:rPr lang="en-GB" sz="2000" dirty="0"/>
              <a:t>500 neurons </a:t>
            </a:r>
          </a:p>
          <a:p>
            <a:r>
              <a:rPr lang="en-GB" sz="2000" dirty="0"/>
              <a:t>50K params</a:t>
            </a:r>
          </a:p>
          <a:p>
            <a:r>
              <a:rPr lang="en-GB" sz="2000" dirty="0"/>
              <a:t>months of training on </a:t>
            </a:r>
            <a:r>
              <a:rPr lang="en-GB" sz="2000" dirty="0" err="1"/>
              <a:t>cpu</a:t>
            </a:r>
            <a:endParaRPr lang="en-GB" sz="2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98C555-3F26-BB4C-B7EC-646A32862C6B}"/>
              </a:ext>
            </a:extLst>
          </p:cNvPr>
          <p:cNvSpPr/>
          <p:nvPr/>
        </p:nvSpPr>
        <p:spPr>
          <a:xfrm>
            <a:off x="4050378" y="4666292"/>
            <a:ext cx="469174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2010’s</a:t>
            </a:r>
          </a:p>
          <a:p>
            <a:r>
              <a:rPr lang="en-GB" sz="2000" dirty="0"/>
              <a:t>500’000 neurons</a:t>
            </a:r>
          </a:p>
          <a:p>
            <a:r>
              <a:rPr lang="en-GB" sz="2000" dirty="0"/>
              <a:t>60M params</a:t>
            </a:r>
          </a:p>
          <a:p>
            <a:r>
              <a:rPr lang="en-GB" sz="2000" dirty="0"/>
              <a:t>days/weeks of training on </a:t>
            </a:r>
            <a:r>
              <a:rPr lang="en-GB" sz="2000" dirty="0" err="1"/>
              <a:t>gpu</a:t>
            </a:r>
            <a:r>
              <a:rPr lang="en-GB" sz="2000" dirty="0"/>
              <a:t> and specifically designed hardware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34908D-6CDA-E64D-BCBE-CB8473949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082" y="1763118"/>
            <a:ext cx="4817836" cy="26150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4EB70D-7D73-BD42-B858-5EB83C9B7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470" y="3088681"/>
            <a:ext cx="1256530" cy="1493268"/>
          </a:xfrm>
          <a:prstGeom prst="rect">
            <a:avLst/>
          </a:prstGeom>
        </p:spPr>
      </p:pic>
      <p:sp>
        <p:nvSpPr>
          <p:cNvPr id="4" name="Triangle 3">
            <a:extLst>
              <a:ext uri="{FF2B5EF4-FFF2-40B4-BE49-F238E27FC236}">
                <a16:creationId xmlns:a16="http://schemas.microsoft.com/office/drawing/2014/main" id="{CDC9B23E-88BE-1746-A89E-D0BAD46A29B5}"/>
              </a:ext>
            </a:extLst>
          </p:cNvPr>
          <p:cNvSpPr/>
          <p:nvPr/>
        </p:nvSpPr>
        <p:spPr>
          <a:xfrm rot="5400000">
            <a:off x="2932734" y="5314985"/>
            <a:ext cx="1465943" cy="33382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026" name="Picture 2" descr="Bildergebnis für imagenet">
            <a:extLst>
              <a:ext uri="{FF2B5EF4-FFF2-40B4-BE49-F238E27FC236}">
                <a16:creationId xmlns:a16="http://schemas.microsoft.com/office/drawing/2014/main" id="{07E6EBA3-76FD-1442-8534-9AA43B189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10" y="1690688"/>
            <a:ext cx="3305369" cy="132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FF6013-2657-9A4E-A890-271E69300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0638" y="929112"/>
            <a:ext cx="2187726" cy="15314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4A17FF1-6A7D-2843-A3F4-7F68A75E4AEA}"/>
              </a:ext>
            </a:extLst>
          </p:cNvPr>
          <p:cNvSpPr/>
          <p:nvPr/>
        </p:nvSpPr>
        <p:spPr>
          <a:xfrm>
            <a:off x="1387698" y="3026624"/>
            <a:ext cx="10463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/>
              <a:t>Big Data</a:t>
            </a:r>
            <a:endParaRPr lang="de-CH" sz="2000" dirty="0"/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209A327C-5F32-274B-B030-B2DCCC8B5B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6578" y="6365265"/>
            <a:ext cx="2626406" cy="338086"/>
          </a:xfrm>
        </p:spPr>
        <p:txBody>
          <a:bodyPr>
            <a:normAutofit lnSpcReduction="10000"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de-CH" dirty="0"/>
              <a:t>Studiengang DS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FF2F2449-D192-5C48-8D10-06AFC032D4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50064" y="6368144"/>
            <a:ext cx="2626406" cy="338086"/>
          </a:xfrm>
        </p:spPr>
        <p:txBody>
          <a:bodyPr>
            <a:normAutofit lnSpcReduction="10000"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de-CH" dirty="0" err="1"/>
              <a:t>Deep</a:t>
            </a:r>
            <a:r>
              <a:rPr lang="de-CH" dirty="0"/>
              <a:t> Learning, Intro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35F08AD2-2A4B-CE47-9F94-53C9A1705F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27394" y="6365265"/>
            <a:ext cx="2626406" cy="338086"/>
          </a:xfrm>
        </p:spPr>
        <p:txBody>
          <a:bodyPr>
            <a:normAutofit lnSpcReduction="10000"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de-CH" dirty="0"/>
              <a:t>Martin Melchior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511F73-52B0-7DAE-4F2F-F540667B54C4}"/>
              </a:ext>
            </a:extLst>
          </p:cNvPr>
          <p:cNvSpPr txBox="1"/>
          <p:nvPr/>
        </p:nvSpPr>
        <p:spPr>
          <a:xfrm>
            <a:off x="8417173" y="4666291"/>
            <a:ext cx="313006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2020’s</a:t>
            </a:r>
          </a:p>
          <a:p>
            <a:r>
              <a:rPr lang="en-GB" sz="2000" dirty="0"/>
              <a:t>up to 100 layers</a:t>
            </a:r>
          </a:p>
          <a:p>
            <a:r>
              <a:rPr lang="en-GB" sz="2000" dirty="0"/>
              <a:t>up to 100 Billion (and more)</a:t>
            </a:r>
            <a:br>
              <a:rPr lang="en-GB" sz="2000" dirty="0"/>
            </a:br>
            <a:r>
              <a:rPr lang="en-GB" sz="2000" dirty="0"/>
              <a:t>parameters</a:t>
            </a:r>
          </a:p>
          <a:p>
            <a:r>
              <a:rPr lang="en-GB" sz="2000" dirty="0"/>
              <a:t>days/weeks/months of </a:t>
            </a:r>
            <a:r>
              <a:rPr lang="en-GB" sz="2000" dirty="0" err="1"/>
              <a:t>gpu</a:t>
            </a:r>
            <a:endParaRPr lang="en-GB" sz="1200" dirty="0">
              <a:solidFill>
                <a:srgbClr val="616161"/>
              </a:solidFill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14E27-F8FF-E41E-ABC7-2D1950CBBD2B}"/>
              </a:ext>
            </a:extLst>
          </p:cNvPr>
          <p:cNvSpPr txBox="1"/>
          <p:nvPr/>
        </p:nvSpPr>
        <p:spPr>
          <a:xfrm>
            <a:off x="10281442" y="4598533"/>
            <a:ext cx="18377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>
                <a:solidFill>
                  <a:srgbClr val="616161"/>
                </a:solidFill>
                <a:effectLst/>
              </a:rPr>
              <a:t>See e.g. GPT3 with 175 Billion params </a:t>
            </a:r>
            <a:r>
              <a:rPr lang="en-GB" sz="800" u="sng" dirty="0">
                <a:solidFill>
                  <a:srgbClr val="616161"/>
                </a:solidFill>
                <a:effectLst/>
                <a:hlinkClick r:id="rId6"/>
              </a:rPr>
              <a:t>https://openai.com/</a:t>
            </a:r>
            <a:r>
              <a:rPr lang="en-GB" sz="800" dirty="0">
                <a:solidFill>
                  <a:srgbClr val="616161"/>
                </a:solidFill>
                <a:effectLst/>
              </a:rPr>
              <a:t> </a:t>
            </a:r>
          </a:p>
          <a:p>
            <a:r>
              <a:rPr lang="en-GB" sz="800" dirty="0">
                <a:solidFill>
                  <a:srgbClr val="616161"/>
                </a:solidFill>
                <a:effectLst/>
              </a:rPr>
              <a:t>Switch Transformer 1.6 Trillion params </a:t>
            </a:r>
            <a:r>
              <a:rPr lang="en-GB" sz="800" u="sng" dirty="0">
                <a:solidFill>
                  <a:srgbClr val="616161"/>
                </a:solidFill>
                <a:effectLst/>
                <a:hlinkClick r:id="rId7"/>
              </a:rPr>
              <a:t>https://arxiv.org/pdf/2101.03961.pdf</a:t>
            </a:r>
            <a:endParaRPr lang="en-GB" sz="800" dirty="0">
              <a:solidFill>
                <a:srgbClr val="616161"/>
              </a:solidFill>
              <a:effectLst/>
            </a:endParaRPr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1507B8EB-AFA3-9BC8-06B3-2CEB0DCAD3A1}"/>
              </a:ext>
            </a:extLst>
          </p:cNvPr>
          <p:cNvSpPr/>
          <p:nvPr/>
        </p:nvSpPr>
        <p:spPr>
          <a:xfrm rot="5400000">
            <a:off x="7408408" y="5314986"/>
            <a:ext cx="1465943" cy="33382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28202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6166C-B5F1-614A-9E55-70D991C57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Amazing</a:t>
            </a:r>
            <a:r>
              <a:rPr lang="de-CH" dirty="0"/>
              <a:t> </a:t>
            </a:r>
            <a:r>
              <a:rPr lang="de-CH" dirty="0" err="1"/>
              <a:t>Stuff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6D44E-4FA9-4F48-AA1E-5226D580C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699" y="1626920"/>
            <a:ext cx="11222422" cy="472081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de-CH" dirty="0" err="1"/>
              <a:t>Stable</a:t>
            </a:r>
            <a:r>
              <a:rPr lang="de-CH" dirty="0"/>
              <a:t> Diffusion: </a:t>
            </a:r>
            <a:r>
              <a:rPr lang="de-CH" dirty="0">
                <a:hlinkClick r:id="rId2"/>
              </a:rPr>
              <a:t>https://stablediffusionweb.com/#demo</a:t>
            </a:r>
            <a:r>
              <a:rPr lang="de-CH" dirty="0"/>
              <a:t> </a:t>
            </a:r>
            <a:br>
              <a:rPr lang="de-CH" dirty="0"/>
            </a:br>
            <a:r>
              <a:rPr lang="de-CH" dirty="0" err="1"/>
              <a:t>Midjourney</a:t>
            </a:r>
            <a:r>
              <a:rPr lang="de-CH" dirty="0"/>
              <a:t>: </a:t>
            </a:r>
            <a:r>
              <a:rPr lang="de-CH" dirty="0">
                <a:hlinkClick r:id="rId3"/>
              </a:rPr>
              <a:t>https://www.midjourney.com</a:t>
            </a:r>
            <a:r>
              <a:rPr lang="de-CH" dirty="0"/>
              <a:t>  </a:t>
            </a:r>
          </a:p>
          <a:p>
            <a:pPr>
              <a:lnSpc>
                <a:spcPct val="120000"/>
              </a:lnSpc>
            </a:pPr>
            <a:r>
              <a:rPr lang="de-CH" dirty="0"/>
              <a:t>Chat GPT: </a:t>
            </a:r>
            <a:r>
              <a:rPr lang="de-CH" dirty="0">
                <a:hlinkClick r:id="rId4"/>
              </a:rPr>
              <a:t>https://chat.openai.com/chat</a:t>
            </a:r>
            <a:r>
              <a:rPr lang="de-CH" dirty="0"/>
              <a:t> </a:t>
            </a:r>
            <a:br>
              <a:rPr lang="de-CH" dirty="0"/>
            </a:br>
            <a:r>
              <a:rPr lang="de-CH" dirty="0"/>
              <a:t>Bard: https://</a:t>
            </a:r>
            <a:r>
              <a:rPr lang="de-CH" dirty="0" err="1"/>
              <a:t>gemini.google.com</a:t>
            </a:r>
            <a:r>
              <a:rPr lang="de-CH" dirty="0"/>
              <a:t>/</a:t>
            </a:r>
            <a:r>
              <a:rPr lang="de-CH" dirty="0" err="1"/>
              <a:t>app</a:t>
            </a:r>
            <a:endParaRPr lang="de-CH" dirty="0"/>
          </a:p>
          <a:p>
            <a:pPr>
              <a:lnSpc>
                <a:spcPct val="120000"/>
              </a:lnSpc>
            </a:pPr>
            <a:r>
              <a:rPr lang="de-CH" dirty="0"/>
              <a:t>CLIP: </a:t>
            </a:r>
            <a:r>
              <a:rPr lang="en-GB" dirty="0">
                <a:hlinkClick r:id="rId5"/>
              </a:rPr>
              <a:t>https://openai.com/blog/clip/</a:t>
            </a:r>
            <a:endParaRPr lang="de-CH" dirty="0">
              <a:hlinkClick r:id="rId6"/>
            </a:endParaRPr>
          </a:p>
          <a:p>
            <a:pPr>
              <a:lnSpc>
                <a:spcPct val="120000"/>
              </a:lnSpc>
            </a:pPr>
            <a:r>
              <a:rPr lang="en-GB" dirty="0"/>
              <a:t>Hugging Face: </a:t>
            </a:r>
            <a:r>
              <a:rPr lang="en-GB" dirty="0">
                <a:hlinkClick r:id="rId7"/>
              </a:rPr>
              <a:t>https://huggingface.co/</a:t>
            </a:r>
            <a:r>
              <a:rPr lang="en-GB" dirty="0"/>
              <a:t> </a:t>
            </a:r>
            <a:endParaRPr lang="de-CH" dirty="0">
              <a:hlinkClick r:id="rId6"/>
            </a:endParaRPr>
          </a:p>
          <a:p>
            <a:pPr>
              <a:lnSpc>
                <a:spcPct val="120000"/>
              </a:lnSpc>
            </a:pPr>
            <a:r>
              <a:rPr lang="de-CH" dirty="0"/>
              <a:t>etc…</a:t>
            </a:r>
          </a:p>
          <a:p>
            <a:pPr>
              <a:lnSpc>
                <a:spcPct val="120000"/>
              </a:lnSpc>
            </a:pPr>
            <a:endParaRPr lang="de-CH" dirty="0"/>
          </a:p>
          <a:p>
            <a:pPr>
              <a:lnSpc>
                <a:spcPct val="120000"/>
              </a:lnSpc>
            </a:pPr>
            <a:r>
              <a:rPr lang="de-CH" dirty="0"/>
              <a:t>Many </a:t>
            </a:r>
            <a:r>
              <a:rPr lang="de-CH" dirty="0" err="1"/>
              <a:t>applications</a:t>
            </a:r>
            <a:r>
              <a:rPr lang="de-CH" dirty="0"/>
              <a:t>: </a:t>
            </a:r>
            <a:r>
              <a:rPr lang="de-CH" dirty="0">
                <a:hlinkClick r:id="rId6"/>
              </a:rPr>
              <a:t>http://deeplearninggallery.com/</a:t>
            </a:r>
            <a:r>
              <a:rPr lang="de-CH" dirty="0"/>
              <a:t> (</a:t>
            </a:r>
            <a:r>
              <a:rPr lang="de-CH" dirty="0" err="1"/>
              <a:t>rather</a:t>
            </a:r>
            <a:r>
              <a:rPr lang="de-CH" dirty="0"/>
              <a:t> </a:t>
            </a:r>
            <a:r>
              <a:rPr lang="de-CH" dirty="0" err="1"/>
              <a:t>outdated</a:t>
            </a:r>
            <a:r>
              <a:rPr lang="de-CH" dirty="0"/>
              <a:t>)</a:t>
            </a:r>
          </a:p>
          <a:p>
            <a:pPr>
              <a:lnSpc>
                <a:spcPct val="120000"/>
              </a:lnSpc>
            </a:pPr>
            <a:endParaRPr lang="de-CH" dirty="0"/>
          </a:p>
          <a:p>
            <a:pPr>
              <a:lnSpc>
                <a:spcPct val="120000"/>
              </a:lnSpc>
            </a:pPr>
            <a:r>
              <a:rPr lang="de-CH" dirty="0"/>
              <a:t>Bots: </a:t>
            </a:r>
            <a:r>
              <a:rPr lang="de-CH" dirty="0">
                <a:hlinkClick r:id="rId8"/>
              </a:rPr>
              <a:t>https://replika.ai/</a:t>
            </a:r>
            <a:r>
              <a:rPr lang="de-CH" dirty="0"/>
              <a:t> , </a:t>
            </a:r>
            <a:r>
              <a:rPr lang="de-CH" dirty="0">
                <a:hlinkClick r:id="rId9"/>
              </a:rPr>
              <a:t>https://beta.character.ai/</a:t>
            </a:r>
            <a:r>
              <a:rPr lang="de-CH" dirty="0"/>
              <a:t> , etc.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5A4F8-C5B4-8449-840E-7342BF7A08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212759-A104-E44C-B87E-3CB08C1268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3AB29D-E9C8-BA46-882B-8AC03F1856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45610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F5778-ED3F-7F41-A07A-B510DAA79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6040"/>
            <a:ext cx="10515600" cy="1325563"/>
          </a:xfrm>
        </p:spPr>
        <p:txBody>
          <a:bodyPr/>
          <a:lstStyle/>
          <a:p>
            <a:r>
              <a:rPr lang="de-CH" dirty="0"/>
              <a:t>Organisation des Kompetenzerwerbs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92BD3-AA40-4D43-9041-D08501D03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199" y="2101397"/>
            <a:ext cx="10884877" cy="4085647"/>
          </a:xfrm>
        </p:spPr>
        <p:txBody>
          <a:bodyPr>
            <a:normAutofit lnSpcReduction="10000"/>
          </a:bodyPr>
          <a:lstStyle/>
          <a:p>
            <a:r>
              <a:rPr lang="de-CH" dirty="0"/>
              <a:t>Auswahl der Lehrmittel</a:t>
            </a:r>
          </a:p>
          <a:p>
            <a:r>
              <a:rPr lang="de-CH" dirty="0"/>
              <a:t>Studium der Lerninhalte</a:t>
            </a:r>
          </a:p>
          <a:p>
            <a:r>
              <a:rPr lang="de-CH" dirty="0"/>
              <a:t>Praktische Übungen, 2 Mini-</a:t>
            </a:r>
            <a:r>
              <a:rPr lang="de-CH" dirty="0" err="1"/>
              <a:t>Challenges</a:t>
            </a:r>
            <a:endParaRPr lang="de-CH" dirty="0"/>
          </a:p>
          <a:p>
            <a:r>
              <a:rPr lang="de-CH" dirty="0"/>
              <a:t>Sprechstunde</a:t>
            </a:r>
          </a:p>
          <a:p>
            <a:pPr lvl="1"/>
            <a:r>
              <a:rPr lang="de-CH" dirty="0"/>
              <a:t>Klärung von Fragen, Unterstützung bei den Übungen </a:t>
            </a:r>
          </a:p>
          <a:p>
            <a:pPr lvl="1"/>
            <a:r>
              <a:rPr lang="de-CH" dirty="0"/>
              <a:t>Donnerstag 09:15-11:00 Uhr (oder nach individueller Vereinbarung)</a:t>
            </a:r>
          </a:p>
          <a:p>
            <a:r>
              <a:rPr lang="de-CH" dirty="0"/>
              <a:t>Deep Dives:</a:t>
            </a:r>
          </a:p>
          <a:p>
            <a:pPr lvl="1"/>
            <a:r>
              <a:rPr lang="de-CH" dirty="0"/>
              <a:t>Bild Klassifikation: </a:t>
            </a:r>
            <a:r>
              <a:rPr lang="en-GB" dirty="0"/>
              <a:t>11. </a:t>
            </a:r>
            <a:r>
              <a:rPr lang="en-GB" dirty="0" err="1"/>
              <a:t>März</a:t>
            </a:r>
            <a:r>
              <a:rPr lang="en-GB" dirty="0"/>
              <a:t> 24, 09:15-11:00</a:t>
            </a:r>
            <a:endParaRPr lang="de-CH" dirty="0"/>
          </a:p>
          <a:p>
            <a:pPr lvl="1"/>
            <a:r>
              <a:rPr lang="de-CH" dirty="0"/>
              <a:t>RNNs: </a:t>
            </a:r>
            <a:r>
              <a:rPr lang="en-GB" dirty="0"/>
              <a:t>29. April 24, 09:15-11:00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281B54CD-85B7-FB44-A4C4-BEC1C9B70167}"/>
              </a:ext>
            </a:extLst>
          </p:cNvPr>
          <p:cNvSpPr/>
          <p:nvPr/>
        </p:nvSpPr>
        <p:spPr>
          <a:xfrm>
            <a:off x="6849638" y="2742833"/>
            <a:ext cx="217714" cy="783772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C4F12B-9242-2C41-A0F9-B6348BA8FA6E}"/>
              </a:ext>
            </a:extLst>
          </p:cNvPr>
          <p:cNvSpPr/>
          <p:nvPr/>
        </p:nvSpPr>
        <p:spPr>
          <a:xfrm>
            <a:off x="7132815" y="2873109"/>
            <a:ext cx="26534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CH" sz="2800" dirty="0"/>
              <a:t>5 Lernergebnisse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10AA930C-2D77-2B42-BE33-106EC6C8B5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6578" y="6365265"/>
            <a:ext cx="2626406" cy="338086"/>
          </a:xfrm>
        </p:spPr>
        <p:txBody>
          <a:bodyPr>
            <a:normAutofit lnSpcReduction="10000"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de-CH" dirty="0"/>
              <a:t>Studiengang DS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262A218E-6A37-DF48-A8B0-2FAAC20037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50064" y="6368144"/>
            <a:ext cx="2626406" cy="338086"/>
          </a:xfrm>
        </p:spPr>
        <p:txBody>
          <a:bodyPr>
            <a:normAutofit lnSpcReduction="10000"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de-CH" dirty="0" err="1"/>
              <a:t>Deep</a:t>
            </a:r>
            <a:r>
              <a:rPr lang="de-CH" dirty="0"/>
              <a:t> Learning, Intro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52AF176F-EF38-ED4D-9457-525E48882E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27394" y="6365265"/>
            <a:ext cx="2626406" cy="338086"/>
          </a:xfrm>
        </p:spPr>
        <p:txBody>
          <a:bodyPr>
            <a:normAutofit lnSpcReduction="10000"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de-CH" dirty="0"/>
              <a:t>Martin Melchior</a:t>
            </a:r>
          </a:p>
        </p:txBody>
      </p:sp>
    </p:spTree>
    <p:extLst>
      <p:ext uri="{BB962C8B-B14F-4D97-AF65-F5344CB8AC3E}">
        <p14:creationId xmlns:p14="http://schemas.microsoft.com/office/powerpoint/2010/main" val="3009884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30D78-F334-7A4D-9332-ADA1BAFA0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6040"/>
            <a:ext cx="10515600" cy="1325563"/>
          </a:xfrm>
        </p:spPr>
        <p:txBody>
          <a:bodyPr/>
          <a:lstStyle/>
          <a:p>
            <a:r>
              <a:rPr lang="de-CH" dirty="0"/>
              <a:t>5 Lernergebnisse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AD095-FDE1-464A-927B-14A333939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1397"/>
            <a:ext cx="10845800" cy="4351338"/>
          </a:xfrm>
        </p:spPr>
        <p:txBody>
          <a:bodyPr/>
          <a:lstStyle/>
          <a:p>
            <a:r>
              <a:rPr lang="en-GB" dirty="0"/>
              <a:t>LE1 - Multi-Layer Perceptron :				10%</a:t>
            </a:r>
          </a:p>
          <a:p>
            <a:r>
              <a:rPr lang="en-GB" dirty="0"/>
              <a:t>LE2 - </a:t>
            </a:r>
            <a:r>
              <a:rPr lang="en-GB" dirty="0" err="1"/>
              <a:t>Trainieren</a:t>
            </a:r>
            <a:r>
              <a:rPr lang="en-GB" dirty="0"/>
              <a:t> von </a:t>
            </a:r>
            <a:r>
              <a:rPr lang="en-GB" dirty="0" err="1"/>
              <a:t>Neuronalen</a:t>
            </a:r>
            <a:r>
              <a:rPr lang="en-GB" dirty="0"/>
              <a:t> </a:t>
            </a:r>
            <a:r>
              <a:rPr lang="en-GB" dirty="0" err="1"/>
              <a:t>Netzen</a:t>
            </a:r>
            <a:r>
              <a:rPr lang="en-GB" dirty="0"/>
              <a:t> :		25%</a:t>
            </a:r>
          </a:p>
          <a:p>
            <a:r>
              <a:rPr lang="en-GB" dirty="0"/>
              <a:t>LE3 - Convolutional Neural Networks (CNN) :	25%</a:t>
            </a:r>
          </a:p>
          <a:p>
            <a:r>
              <a:rPr lang="en-GB" dirty="0"/>
              <a:t>LE4 - Recurrent Neural Networks (RNN) : 		20%</a:t>
            </a:r>
          </a:p>
          <a:p>
            <a:r>
              <a:rPr lang="en-GB" dirty="0"/>
              <a:t>LE5 - Deep Learning Frameworks: 			20%</a:t>
            </a:r>
          </a:p>
          <a:p>
            <a:pPr marL="0" indent="0">
              <a:buNone/>
            </a:pPr>
            <a:endParaRPr lang="de-CH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DEB44795-7836-6049-B97A-B81EC17609D9}"/>
              </a:ext>
            </a:extLst>
          </p:cNvPr>
          <p:cNvSpPr/>
          <p:nvPr/>
        </p:nvSpPr>
        <p:spPr>
          <a:xfrm>
            <a:off x="9052208" y="2191290"/>
            <a:ext cx="217714" cy="1325562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2DF829-532E-1848-8BF3-A6E0BCD135AE}"/>
              </a:ext>
            </a:extLst>
          </p:cNvPr>
          <p:cNvSpPr/>
          <p:nvPr/>
        </p:nvSpPr>
        <p:spPr>
          <a:xfrm>
            <a:off x="9480525" y="2321566"/>
            <a:ext cx="8659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CH" sz="2800" dirty="0"/>
              <a:t>MC1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4C07E25F-908C-7246-AC99-5A58E12D9451}"/>
              </a:ext>
            </a:extLst>
          </p:cNvPr>
          <p:cNvSpPr/>
          <p:nvPr/>
        </p:nvSpPr>
        <p:spPr>
          <a:xfrm>
            <a:off x="9237408" y="3195230"/>
            <a:ext cx="217714" cy="1362255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1890C3-99F2-2B42-B500-6541103BB699}"/>
              </a:ext>
            </a:extLst>
          </p:cNvPr>
          <p:cNvSpPr/>
          <p:nvPr/>
        </p:nvSpPr>
        <p:spPr>
          <a:xfrm>
            <a:off x="9480525" y="3601278"/>
            <a:ext cx="86594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CH" sz="2800" dirty="0"/>
              <a:t>MC2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427545C8-214C-1849-937D-A2D9991F94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6578" y="6365265"/>
            <a:ext cx="2626406" cy="338086"/>
          </a:xfrm>
        </p:spPr>
        <p:txBody>
          <a:bodyPr>
            <a:normAutofit lnSpcReduction="10000"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de-CH" dirty="0"/>
              <a:t>Studiengang DS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080835CA-6296-7C41-A94B-5BDA592EDA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50064" y="6368144"/>
            <a:ext cx="2626406" cy="338086"/>
          </a:xfrm>
        </p:spPr>
        <p:txBody>
          <a:bodyPr>
            <a:normAutofit lnSpcReduction="10000"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de-CH" dirty="0" err="1"/>
              <a:t>Deep</a:t>
            </a:r>
            <a:r>
              <a:rPr lang="de-CH" dirty="0"/>
              <a:t> Learning, Intro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C0FB9AE8-88BC-3548-906B-8F15A2FA40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27394" y="6365265"/>
            <a:ext cx="2626406" cy="338086"/>
          </a:xfrm>
        </p:spPr>
        <p:txBody>
          <a:bodyPr>
            <a:normAutofit lnSpcReduction="10000"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de-CH" dirty="0"/>
              <a:t>Martin Melchior</a:t>
            </a:r>
          </a:p>
        </p:txBody>
      </p:sp>
    </p:spTree>
    <p:extLst>
      <p:ext uri="{BB962C8B-B14F-4D97-AF65-F5344CB8AC3E}">
        <p14:creationId xmlns:p14="http://schemas.microsoft.com/office/powerpoint/2010/main" val="1766713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B6672-CC67-DB40-9D0F-66838FC7F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1866"/>
            <a:ext cx="10515600" cy="1325563"/>
          </a:xfrm>
        </p:spPr>
        <p:txBody>
          <a:bodyPr/>
          <a:lstStyle/>
          <a:p>
            <a:r>
              <a:rPr lang="de-CH" dirty="0"/>
              <a:t>Zwei Mini-</a:t>
            </a:r>
            <a:r>
              <a:rPr lang="de-CH" dirty="0" err="1"/>
              <a:t>Challenges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EF96F-68EA-AF4C-8CA7-2F9972FA8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4600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de-CH" b="1" dirty="0"/>
              <a:t>Trainieren und Tunen eines Neuronalen Netzes </a:t>
            </a:r>
            <a:r>
              <a:rPr lang="de-CH" dirty="0"/>
              <a:t>(MC1)</a:t>
            </a:r>
          </a:p>
          <a:p>
            <a:pPr lvl="1">
              <a:lnSpc>
                <a:spcPct val="120000"/>
              </a:lnSpc>
            </a:pPr>
            <a:r>
              <a:rPr lang="de-CH" dirty="0"/>
              <a:t>Implementierung eines </a:t>
            </a:r>
            <a:r>
              <a:rPr lang="de-CH" dirty="0" err="1"/>
              <a:t>Deep</a:t>
            </a:r>
            <a:r>
              <a:rPr lang="de-CH" dirty="0"/>
              <a:t> Learning Modells vom Typ MLP auf Basis eines DL Frameworks (je nach Vorarbeiten in ML)</a:t>
            </a:r>
          </a:p>
          <a:p>
            <a:pPr lvl="1">
              <a:lnSpc>
                <a:spcPct val="120000"/>
              </a:lnSpc>
            </a:pPr>
            <a:r>
              <a:rPr lang="de-CH" dirty="0"/>
              <a:t>Anwendung auf einen Beispiel-Datensatz </a:t>
            </a:r>
          </a:p>
          <a:p>
            <a:pPr lvl="1">
              <a:lnSpc>
                <a:spcPct val="120000"/>
              </a:lnSpc>
            </a:pPr>
            <a:r>
              <a:rPr lang="de-CH" dirty="0"/>
              <a:t>Modell-Selektion / Hyperparameter-Tuning</a:t>
            </a:r>
          </a:p>
          <a:p>
            <a:pPr lvl="1">
              <a:lnSpc>
                <a:spcPct val="120000"/>
              </a:lnSpc>
            </a:pPr>
            <a:r>
              <a:rPr lang="de-CH" dirty="0"/>
              <a:t>Anwendung verschiedener </a:t>
            </a:r>
            <a:r>
              <a:rPr lang="de-CH" dirty="0" err="1"/>
              <a:t>Regularisierungsverfahren</a:t>
            </a:r>
            <a:endParaRPr lang="de-CH" dirty="0"/>
          </a:p>
          <a:p>
            <a:pPr lvl="1">
              <a:lnSpc>
                <a:spcPct val="120000"/>
              </a:lnSpc>
            </a:pPr>
            <a:r>
              <a:rPr lang="de-CH" dirty="0"/>
              <a:t>Kurz-Präsentation (~10 min)</a:t>
            </a:r>
          </a:p>
          <a:p>
            <a:pPr lvl="1">
              <a:lnSpc>
                <a:spcPct val="120000"/>
              </a:lnSpc>
            </a:pPr>
            <a:endParaRPr lang="de-CH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de-CH" b="1" dirty="0"/>
              <a:t>Paper-Studium und Umsetzung </a:t>
            </a:r>
            <a:r>
              <a:rPr lang="de-CH" dirty="0"/>
              <a:t>(MC2)</a:t>
            </a:r>
          </a:p>
          <a:p>
            <a:pPr lvl="1">
              <a:lnSpc>
                <a:spcPct val="120000"/>
              </a:lnSpc>
            </a:pPr>
            <a:r>
              <a:rPr lang="de-CH" dirty="0"/>
              <a:t>Erarbeitung einer in einem Paper beschriebenen Fragestellung</a:t>
            </a:r>
          </a:p>
          <a:p>
            <a:pPr lvl="1">
              <a:lnSpc>
                <a:spcPct val="120000"/>
              </a:lnSpc>
            </a:pPr>
            <a:r>
              <a:rPr lang="de-CH" dirty="0"/>
              <a:t>Umsetzung in einem DL Framework</a:t>
            </a:r>
          </a:p>
          <a:p>
            <a:pPr lvl="1">
              <a:lnSpc>
                <a:spcPct val="120000"/>
              </a:lnSpc>
            </a:pPr>
            <a:r>
              <a:rPr lang="de-CH" dirty="0"/>
              <a:t>Anwendung auf geeigneten Beispiel-Datensatz</a:t>
            </a:r>
          </a:p>
          <a:p>
            <a:pPr lvl="1">
              <a:lnSpc>
                <a:spcPct val="120000"/>
              </a:lnSpc>
            </a:pPr>
            <a:r>
              <a:rPr lang="de-CH" dirty="0"/>
              <a:t>Präsentation (~20 min)</a:t>
            </a:r>
          </a:p>
          <a:p>
            <a:pPr marL="0" indent="0">
              <a:lnSpc>
                <a:spcPct val="120000"/>
              </a:lnSpc>
              <a:buNone/>
            </a:pPr>
            <a:endParaRPr lang="de-CH" dirty="0"/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BDDF6857-D47C-4040-A431-B00E80A44C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6578" y="6365265"/>
            <a:ext cx="2626406" cy="338086"/>
          </a:xfrm>
        </p:spPr>
        <p:txBody>
          <a:bodyPr>
            <a:normAutofit lnSpcReduction="10000"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de-CH" dirty="0"/>
              <a:t>Studiengang DS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7910639B-92D4-5E4B-AF4E-5961AACE0F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50064" y="6368144"/>
            <a:ext cx="2626406" cy="338086"/>
          </a:xfrm>
        </p:spPr>
        <p:txBody>
          <a:bodyPr>
            <a:normAutofit lnSpcReduction="10000"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de-CH" dirty="0" err="1"/>
              <a:t>Deep</a:t>
            </a:r>
            <a:r>
              <a:rPr lang="de-CH" dirty="0"/>
              <a:t> Learning, Intro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41EA9E90-E162-C440-B14A-03E28DDEFA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27394" y="6365265"/>
            <a:ext cx="2626406" cy="338086"/>
          </a:xfrm>
        </p:spPr>
        <p:txBody>
          <a:bodyPr>
            <a:normAutofit lnSpcReduction="10000"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de-CH" dirty="0"/>
              <a:t>Martin Melchior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21893260-2233-4C2A-D4BF-BD0C049CDF80}"/>
              </a:ext>
            </a:extLst>
          </p:cNvPr>
          <p:cNvSpPr/>
          <p:nvPr/>
        </p:nvSpPr>
        <p:spPr>
          <a:xfrm>
            <a:off x="8490857" y="4488873"/>
            <a:ext cx="236537" cy="1710046"/>
          </a:xfrm>
          <a:prstGeom prst="rightBrace">
            <a:avLst>
              <a:gd name="adj1" fmla="val 5192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960C02-2265-474F-A479-C6550C853E9A}"/>
              </a:ext>
            </a:extLst>
          </p:cNvPr>
          <p:cNvSpPr txBox="1"/>
          <p:nvPr/>
        </p:nvSpPr>
        <p:spPr>
          <a:xfrm>
            <a:off x="8847117" y="4739906"/>
            <a:ext cx="2766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Möglichkeit</a:t>
            </a:r>
            <a:r>
              <a:rPr lang="en-US" dirty="0"/>
              <a:t>, </a:t>
            </a:r>
            <a:r>
              <a:rPr lang="en-US" dirty="0" err="1"/>
              <a:t>Inhalt</a:t>
            </a:r>
            <a:r>
              <a:rPr lang="en-US" dirty="0"/>
              <a:t> </a:t>
            </a:r>
            <a:r>
              <a:rPr lang="en-US" dirty="0" err="1"/>
              <a:t>noch</a:t>
            </a:r>
            <a:r>
              <a:rPr lang="en-US" dirty="0"/>
              <a:t> </a:t>
            </a:r>
            <a:r>
              <a:rPr lang="en-US" dirty="0" err="1"/>
              <a:t>weiter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fassen</a:t>
            </a:r>
            <a:r>
              <a:rPr lang="en-US" dirty="0"/>
              <a:t>; </a:t>
            </a:r>
            <a:r>
              <a:rPr lang="en-US" dirty="0" err="1"/>
              <a:t>z.B.</a:t>
            </a:r>
            <a:r>
              <a:rPr lang="en-US" dirty="0"/>
              <a:t> Attention-</a:t>
            </a:r>
            <a:r>
              <a:rPr lang="en-US" dirty="0" err="1"/>
              <a:t>Mechanismus</a:t>
            </a:r>
            <a:r>
              <a:rPr lang="en-US" dirty="0"/>
              <a:t>, Transformers</a:t>
            </a:r>
          </a:p>
        </p:txBody>
      </p:sp>
    </p:spTree>
    <p:extLst>
      <p:ext uri="{BB962C8B-B14F-4D97-AF65-F5344CB8AC3E}">
        <p14:creationId xmlns:p14="http://schemas.microsoft.com/office/powerpoint/2010/main" val="4124424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6340E-5BED-144C-A22F-8D356AD9C3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85F9C9-E775-3C46-8995-154757C487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6CAF85-9C92-EC40-80BA-9BE4CAB77A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1D07736-A823-2547-9802-80E647C85C34}"/>
              </a:ext>
            </a:extLst>
          </p:cNvPr>
          <p:cNvGrpSpPr/>
          <p:nvPr/>
        </p:nvGrpSpPr>
        <p:grpSpPr>
          <a:xfrm>
            <a:off x="3403850" y="1775016"/>
            <a:ext cx="4945352" cy="3307968"/>
            <a:chOff x="2603273" y="1319514"/>
            <a:chExt cx="4945352" cy="330796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ED40242-4AAB-3D4A-A2D5-06151EEC168A}"/>
                </a:ext>
              </a:extLst>
            </p:cNvPr>
            <p:cNvSpPr/>
            <p:nvPr/>
          </p:nvSpPr>
          <p:spPr>
            <a:xfrm>
              <a:off x="5463252" y="1319514"/>
              <a:ext cx="1226917" cy="8218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/>
                <a:t>LE 1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F77CB34-9971-0147-B0FE-0A9C8267BCCE}"/>
                </a:ext>
              </a:extLst>
            </p:cNvPr>
            <p:cNvSpPr/>
            <p:nvPr/>
          </p:nvSpPr>
          <p:spPr>
            <a:xfrm>
              <a:off x="5463252" y="2436471"/>
              <a:ext cx="1226917" cy="8218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/>
                <a:t>LE 2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F22D326-2582-F047-B172-E2258B99FCA4}"/>
                </a:ext>
              </a:extLst>
            </p:cNvPr>
            <p:cNvSpPr/>
            <p:nvPr/>
          </p:nvSpPr>
          <p:spPr>
            <a:xfrm>
              <a:off x="2603273" y="2462814"/>
              <a:ext cx="1226917" cy="8218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/>
                <a:t>LE 5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202A024-5AEF-6245-82F1-7A60275DF18C}"/>
                </a:ext>
              </a:extLst>
            </p:cNvPr>
            <p:cNvSpPr/>
            <p:nvPr/>
          </p:nvSpPr>
          <p:spPr>
            <a:xfrm>
              <a:off x="4643377" y="3805679"/>
              <a:ext cx="1226917" cy="8218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/>
                <a:t>LE 3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57D3D0A-3723-494D-876A-0E078E8DC139}"/>
                </a:ext>
              </a:extLst>
            </p:cNvPr>
            <p:cNvSpPr/>
            <p:nvPr/>
          </p:nvSpPr>
          <p:spPr>
            <a:xfrm>
              <a:off x="6321708" y="3805679"/>
              <a:ext cx="1226917" cy="8218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CH" dirty="0"/>
                <a:t>LE 4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986DA7A-D0E9-E244-A041-AA59602956DD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6076711" y="2141317"/>
              <a:ext cx="0" cy="29515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BD0DAA2-308E-9B43-A4B5-F0C2571ECD92}"/>
                </a:ext>
              </a:extLst>
            </p:cNvPr>
            <p:cNvCxnSpPr>
              <a:cxnSpLocks/>
              <a:stCxn id="8" idx="2"/>
              <a:endCxn id="11" idx="0"/>
            </p:cNvCxnSpPr>
            <p:nvPr/>
          </p:nvCxnSpPr>
          <p:spPr>
            <a:xfrm rot="16200000" flipH="1">
              <a:off x="6232237" y="3102748"/>
              <a:ext cx="547405" cy="858456"/>
            </a:xfrm>
            <a:prstGeom prst="bentConnector3">
              <a:avLst>
                <a:gd name="adj1" fmla="val 50000"/>
              </a:avLst>
            </a:prstGeom>
            <a:ln w="28575"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A6B8DDB-788B-ED41-BFDB-F94A8D2AE7CD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 rot="5400000">
              <a:off x="5393072" y="3122039"/>
              <a:ext cx="547405" cy="819875"/>
            </a:xfrm>
            <a:prstGeom prst="bentConnector3">
              <a:avLst>
                <a:gd name="adj1" fmla="val 50000"/>
              </a:avLst>
            </a:prstGeom>
            <a:ln w="28575"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4147A02-4099-5540-B80E-DC222028FE78}"/>
                </a:ext>
              </a:extLst>
            </p:cNvPr>
            <p:cNvCxnSpPr>
              <a:cxnSpLocks/>
              <a:stCxn id="9" idx="3"/>
              <a:endCxn id="7" idx="1"/>
            </p:cNvCxnSpPr>
            <p:nvPr/>
          </p:nvCxnSpPr>
          <p:spPr>
            <a:xfrm flipV="1">
              <a:off x="3830190" y="1730416"/>
              <a:ext cx="1633062" cy="1143300"/>
            </a:xfrm>
            <a:prstGeom prst="curvedConnector3">
              <a:avLst/>
            </a:prstGeom>
            <a:ln w="28575">
              <a:prstDash val="dash"/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2330DEE-D6D5-764F-BEDF-4C312168A861}"/>
                </a:ext>
              </a:extLst>
            </p:cNvPr>
            <p:cNvCxnSpPr>
              <a:cxnSpLocks/>
              <a:stCxn id="9" idx="3"/>
              <a:endCxn id="8" idx="1"/>
            </p:cNvCxnSpPr>
            <p:nvPr/>
          </p:nvCxnSpPr>
          <p:spPr>
            <a:xfrm flipV="1">
              <a:off x="3830190" y="2847373"/>
              <a:ext cx="1633062" cy="26343"/>
            </a:xfrm>
            <a:prstGeom prst="straightConnector1">
              <a:avLst/>
            </a:prstGeom>
            <a:ln w="28575">
              <a:prstDash val="dash"/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E3387BB-695D-7744-B114-4AB15145DB0D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>
              <a:off x="3830190" y="2873716"/>
              <a:ext cx="813187" cy="1342865"/>
            </a:xfrm>
            <a:prstGeom prst="curvedConnector3">
              <a:avLst/>
            </a:prstGeom>
            <a:ln w="28575">
              <a:prstDash val="dash"/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25">
              <a:extLst>
                <a:ext uri="{FF2B5EF4-FFF2-40B4-BE49-F238E27FC236}">
                  <a16:creationId xmlns:a16="http://schemas.microsoft.com/office/drawing/2014/main" id="{E1DACFBA-C83A-2544-9FB6-B9ED7C40172E}"/>
                </a:ext>
              </a:extLst>
            </p:cNvPr>
            <p:cNvCxnSpPr>
              <a:cxnSpLocks/>
              <a:stCxn id="9" idx="3"/>
              <a:endCxn id="11" idx="1"/>
            </p:cNvCxnSpPr>
            <p:nvPr/>
          </p:nvCxnSpPr>
          <p:spPr>
            <a:xfrm>
              <a:off x="3830190" y="2873716"/>
              <a:ext cx="2491518" cy="1342865"/>
            </a:xfrm>
            <a:prstGeom prst="curvedConnector3">
              <a:avLst>
                <a:gd name="adj1" fmla="val 69616"/>
              </a:avLst>
            </a:prstGeom>
            <a:ln w="28575">
              <a:prstDash val="dash"/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18814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B6672-CC67-DB40-9D0F-66838FC7F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1866"/>
            <a:ext cx="10515600" cy="1325563"/>
          </a:xfrm>
        </p:spPr>
        <p:txBody>
          <a:bodyPr/>
          <a:lstStyle/>
          <a:p>
            <a:r>
              <a:rPr lang="de-CH" dirty="0"/>
              <a:t>Kurs Unterlagen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EF96F-68EA-AF4C-8CA7-2F9972FA8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7223"/>
            <a:ext cx="10515600" cy="4154261"/>
          </a:xfrm>
        </p:spPr>
        <p:txBody>
          <a:bodyPr>
            <a:normAutofit/>
          </a:bodyPr>
          <a:lstStyle/>
          <a:p>
            <a:r>
              <a:rPr lang="de-CH" dirty="0"/>
              <a:t>Online-Kurse</a:t>
            </a:r>
          </a:p>
          <a:p>
            <a:r>
              <a:rPr lang="de-CH" dirty="0"/>
              <a:t>Bücher</a:t>
            </a:r>
          </a:p>
          <a:p>
            <a:r>
              <a:rPr lang="de-CH" dirty="0"/>
              <a:t>Publikationen</a:t>
            </a:r>
          </a:p>
          <a:p>
            <a:r>
              <a:rPr lang="de-CH" dirty="0"/>
              <a:t>Blog Artikel</a:t>
            </a:r>
          </a:p>
          <a:p>
            <a:r>
              <a:rPr lang="de-CH" dirty="0"/>
              <a:t>Übungen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BDDF6857-D47C-4040-A431-B00E80A44C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6578" y="6365265"/>
            <a:ext cx="2626406" cy="338086"/>
          </a:xfrm>
        </p:spPr>
        <p:txBody>
          <a:bodyPr>
            <a:normAutofit lnSpcReduction="10000"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de-CH" dirty="0"/>
              <a:t>Studiengang DS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7910639B-92D4-5E4B-AF4E-5961AACE0F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50064" y="6368144"/>
            <a:ext cx="2626406" cy="338086"/>
          </a:xfrm>
        </p:spPr>
        <p:txBody>
          <a:bodyPr>
            <a:normAutofit lnSpcReduction="10000"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de-CH" dirty="0" err="1"/>
              <a:t>Deep</a:t>
            </a:r>
            <a:r>
              <a:rPr lang="de-CH" dirty="0"/>
              <a:t> Learning, Intro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41EA9E90-E162-C440-B14A-03E28DDEFA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27394" y="6365265"/>
            <a:ext cx="2626406" cy="338086"/>
          </a:xfrm>
        </p:spPr>
        <p:txBody>
          <a:bodyPr>
            <a:normAutofit lnSpcReduction="10000"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de-CH" dirty="0"/>
              <a:t>Martin Melchior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2AA17238-DCE7-F54D-85E7-27D5FC8F72BE}"/>
              </a:ext>
            </a:extLst>
          </p:cNvPr>
          <p:cNvSpPr/>
          <p:nvPr/>
        </p:nvSpPr>
        <p:spPr>
          <a:xfrm>
            <a:off x="3727048" y="1950061"/>
            <a:ext cx="373892" cy="1372930"/>
          </a:xfrm>
          <a:prstGeom prst="rightBrace">
            <a:avLst>
              <a:gd name="adj1" fmla="val 36194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9486EA-39FF-4E42-964E-307B6AB08E70}"/>
              </a:ext>
            </a:extLst>
          </p:cNvPr>
          <p:cNvSpPr/>
          <p:nvPr/>
        </p:nvSpPr>
        <p:spPr>
          <a:xfrm>
            <a:off x="4353976" y="2451860"/>
            <a:ext cx="27532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CH" dirty="0"/>
              <a:t>Siehe Ressourcen auf </a:t>
            </a:r>
            <a:r>
              <a:rPr lang="de-CH" dirty="0">
                <a:hlinkClick r:id="rId2"/>
              </a:rPr>
              <a:t>gitlab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05822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16169</TotalTime>
  <Words>540</Words>
  <Application>Microsoft Macintosh PowerPoint</Application>
  <PresentationFormat>Widescreen</PresentationFormat>
  <Paragraphs>105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Deep  Learning</vt:lpstr>
      <vt:lpstr>What is Deep Learning?</vt:lpstr>
      <vt:lpstr>PowerPoint Presentation</vt:lpstr>
      <vt:lpstr>Why Deep Learning Now?</vt:lpstr>
      <vt:lpstr>Amazing Stuff</vt:lpstr>
      <vt:lpstr>Organisation des Kompetenzerwerbs</vt:lpstr>
      <vt:lpstr>5 Lernergebnisse</vt:lpstr>
      <vt:lpstr>Zwei Mini-Challenges</vt:lpstr>
      <vt:lpstr>PowerPoint Presentation</vt:lpstr>
      <vt:lpstr>Kurs Unterlagen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 Learning</dc:title>
  <dc:creator>Melchior Martin</dc:creator>
  <cp:lastModifiedBy>Martin Melchior</cp:lastModifiedBy>
  <cp:revision>20</cp:revision>
  <dcterms:created xsi:type="dcterms:W3CDTF">2021-02-22T10:06:07Z</dcterms:created>
  <dcterms:modified xsi:type="dcterms:W3CDTF">2024-02-21T17:05:31Z</dcterms:modified>
</cp:coreProperties>
</file>